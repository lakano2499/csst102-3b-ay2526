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Nyutro Sans Heavy" charset="1" panose="00000000000000000000"/>
      <p:regular r:id="rId19"/>
    </p:embeddedFont>
    <p:embeddedFont>
      <p:font typeface="Nyutro Sans" charset="1" panose="00000000000000000000"/>
      <p:regular r:id="rId20"/>
    </p:embeddedFont>
    <p:embeddedFont>
      <p:font typeface="Nyutro Sans Bold" charset="1" panose="00000000000000000000"/>
      <p:regular r:id="rId21"/>
    </p:embeddedFont>
    <p:embeddedFont>
      <p:font typeface="Nyutro Sans Medium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10283443"/>
            <a:chOff x="0" y="0"/>
            <a:chExt cx="1863593" cy="2782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3594" cy="2782840"/>
            </a:xfrm>
            <a:custGeom>
              <a:avLst/>
              <a:gdLst/>
              <a:ahLst/>
              <a:cxnLst/>
              <a:rect r="r" b="b" t="t" l="l"/>
              <a:pathLst>
                <a:path h="2782840" w="1863594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2" r="0" b="-16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657225"/>
            <a:ext cx="9763125" cy="513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00"/>
              </a:lnSpc>
            </a:pPr>
            <a:r>
              <a:rPr lang="en-US" b="true" sz="12600" spc="-126">
                <a:solidFill>
                  <a:srgbClr val="3C6E71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Understanding the Kernel Trick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C6E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106" r="0" b="-106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95325" y="666750"/>
            <a:ext cx="7806721" cy="8657591"/>
            <a:chOff x="0" y="0"/>
            <a:chExt cx="10408962" cy="1154345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0408962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100"/>
                </a:lnSpc>
                <a:spcBef>
                  <a:spcPct val="0"/>
                </a:spcBef>
              </a:pPr>
              <a:r>
                <a:rPr lang="en-US" b="true" sz="9000" spc="-89">
                  <a:solidFill>
                    <a:srgbClr val="D9BF77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Introduction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924050"/>
              <a:ext cx="10408962" cy="96194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4759"/>
                </a:lnSpc>
              </a:pPr>
              <a:r>
                <a:rPr lang="en-US" sz="3399">
                  <a:solidFill>
                    <a:srgbClr val="D9BF7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So here we ha</a:t>
              </a:r>
              <a:r>
                <a:rPr lang="en-US" sz="3399">
                  <a:solidFill>
                    <a:srgbClr val="D9BF77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ve a bunch of red and blue dots, all mixed up so we can’t draw a straight line to separate them. That’s a common problem in machine learning—real-world data is rarely neat and linear. The kernel trick is a clever mathematical shortcut that helps algorithms like Support Vector Machines (SVMs) handle such messy, non-linear data by “lifting” it into a higher-dimensional space where it can be separated easily—without actually doing the heavy lifting!</a:t>
              </a:r>
            </a:p>
          </p:txBody>
        </p:sp>
      </p:grp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455942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3C6E71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Concept and Definition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4833" y="3416934"/>
            <a:ext cx="16858334" cy="4633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039"/>
              </a:lnSpc>
              <a:spcBef>
                <a:spcPct val="0"/>
              </a:spcBef>
            </a:pPr>
            <a:r>
              <a:rPr lang="en-US" sz="4314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The kernel trick is a technique used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 i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n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ma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ch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in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e learn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ing t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o solve non-line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a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r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 p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r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o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blem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s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us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in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g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l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i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n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e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a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r me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thods. I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ns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tead of try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in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g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 t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o draw a curv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e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d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li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ne i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n 2D,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it im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a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gine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s the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d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at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a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in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3D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(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o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r e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ve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n highe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r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!) where a f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la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t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p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lane ca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n cl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e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a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nly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s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plit th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e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gro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u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p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s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.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The m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a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gic? I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t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do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es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thi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s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 w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i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thout ever calcu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l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at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ing the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higher-dimensional coordinates—it just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comp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utes simi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l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ar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it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ies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between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da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t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a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p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oi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nts us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in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g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a 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s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p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ecial functi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o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n cal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le</a:t>
            </a:r>
            <a:r>
              <a:rPr lang="en-US" sz="4314" strike="noStrike" u="none">
                <a:solidFill>
                  <a:srgbClr val="3C6E71"/>
                </a:solidFill>
                <a:latin typeface="Nyutro Sans"/>
                <a:ea typeface="Nyutro Sans"/>
                <a:cs typeface="Nyutro Sans"/>
                <a:sym typeface="Nyutro Sans"/>
              </a:rPr>
              <a:t>d a kernel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C6E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33949" y="0"/>
            <a:ext cx="9554051" cy="10287000"/>
          </a:xfrm>
          <a:custGeom>
            <a:avLst/>
            <a:gdLst/>
            <a:ahLst/>
            <a:cxnLst/>
            <a:rect r="r" b="b" t="t" l="l"/>
            <a:pathLst>
              <a:path h="10287000" w="9554051">
                <a:moveTo>
                  <a:pt x="0" y="0"/>
                </a:moveTo>
                <a:lnTo>
                  <a:pt x="9554051" y="0"/>
                </a:lnTo>
                <a:lnTo>
                  <a:pt x="955405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3529775"/>
            <a:ext cx="6886575" cy="371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8542" indent="-374271" lvl="1">
              <a:lnSpc>
                <a:spcPts val="4853"/>
              </a:lnSpc>
              <a:buFont typeface="Arial"/>
              <a:buChar char="•"/>
            </a:pPr>
            <a:r>
              <a:rPr lang="en-US" b="true" sz="3467">
                <a:solidFill>
                  <a:srgbClr val="D9BF7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Here we have a dataset with two classes (e.g., red dots and blue dots) that can’t be separated by a straight line in 2D space. This is called non-linearly separable data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742950"/>
            <a:ext cx="6886575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How I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 W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o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rk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</a:t>
            </a:r>
          </a:p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C6E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75865" y="20488"/>
            <a:ext cx="9612135" cy="10266512"/>
          </a:xfrm>
          <a:custGeom>
            <a:avLst/>
            <a:gdLst/>
            <a:ahLst/>
            <a:cxnLst/>
            <a:rect r="r" b="b" t="t" l="l"/>
            <a:pathLst>
              <a:path h="10266512" w="9612135">
                <a:moveTo>
                  <a:pt x="0" y="0"/>
                </a:moveTo>
                <a:lnTo>
                  <a:pt x="9612135" y="0"/>
                </a:lnTo>
                <a:lnTo>
                  <a:pt x="9612135" y="10266512"/>
                </a:lnTo>
                <a:lnTo>
                  <a:pt x="0" y="10266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7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2310575"/>
            <a:ext cx="6886575" cy="493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8542" indent="-374271" lvl="1">
              <a:lnSpc>
                <a:spcPts val="4853"/>
              </a:lnSpc>
              <a:buFont typeface="Arial"/>
              <a:buChar char="•"/>
            </a:pP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Instead of struggling in 2D, we imagine </a:t>
            </a:r>
            <a:r>
              <a:rPr lang="en-US" b="true" sz="3467">
                <a:solidFill>
                  <a:srgbClr val="D9BF77"/>
                </a:solidFill>
                <a:latin typeface="Nyutro Sans Medium"/>
                <a:ea typeface="Nyutro Sans Medium"/>
                <a:cs typeface="Nyutro Sans Medium"/>
                <a:sym typeface="Nyutro Sans Medium"/>
              </a:rPr>
              <a:t>transforming (mapping)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 the data into a </a:t>
            </a:r>
            <a:r>
              <a:rPr lang="en-US" b="true" sz="3467">
                <a:solidFill>
                  <a:srgbClr val="D9BF77"/>
                </a:solidFill>
                <a:latin typeface="Nyutro Sans Medium"/>
                <a:ea typeface="Nyutro Sans Medium"/>
                <a:cs typeface="Nyutro Sans Medium"/>
                <a:sym typeface="Nyutro Sans Medium"/>
              </a:rPr>
              <a:t>higher-dimensional space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 (like 3D or more), where it </a:t>
            </a:r>
            <a:r>
              <a:rPr lang="en-US" b="true" sz="3467">
                <a:solidFill>
                  <a:srgbClr val="D9BF77"/>
                </a:solidFill>
                <a:latin typeface="Nyutro Sans Medium"/>
                <a:ea typeface="Nyutro Sans Medium"/>
                <a:cs typeface="Nyutro Sans Medium"/>
                <a:sym typeface="Nyutro Sans Medium"/>
              </a:rPr>
              <a:t>becomes linearly separable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—meaning a flat plane (or hyperplane) can now split the classes cleanly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742950"/>
            <a:ext cx="6886575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How I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 W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o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rk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</a:t>
            </a:r>
          </a:p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C6E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75865" y="20488"/>
            <a:ext cx="9612135" cy="10266512"/>
          </a:xfrm>
          <a:custGeom>
            <a:avLst/>
            <a:gdLst/>
            <a:ahLst/>
            <a:cxnLst/>
            <a:rect r="r" b="b" t="t" l="l"/>
            <a:pathLst>
              <a:path h="10266512" w="9612135">
                <a:moveTo>
                  <a:pt x="0" y="0"/>
                </a:moveTo>
                <a:lnTo>
                  <a:pt x="9612135" y="0"/>
                </a:lnTo>
                <a:lnTo>
                  <a:pt x="9612135" y="10266512"/>
                </a:lnTo>
                <a:lnTo>
                  <a:pt x="0" y="10266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7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75865" y="1112649"/>
            <a:ext cx="9612135" cy="8061702"/>
          </a:xfrm>
          <a:custGeom>
            <a:avLst/>
            <a:gdLst/>
            <a:ahLst/>
            <a:cxnLst/>
            <a:rect r="r" b="b" t="t" l="l"/>
            <a:pathLst>
              <a:path h="8061702" w="9612135">
                <a:moveTo>
                  <a:pt x="0" y="0"/>
                </a:moveTo>
                <a:lnTo>
                  <a:pt x="9612135" y="0"/>
                </a:lnTo>
                <a:lnTo>
                  <a:pt x="9612135" y="8061702"/>
                </a:lnTo>
                <a:lnTo>
                  <a:pt x="0" y="8061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68" t="0" r="-6668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2310575"/>
            <a:ext cx="6886575" cy="493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8542" indent="-374271" lvl="1">
              <a:lnSpc>
                <a:spcPts val="4853"/>
              </a:lnSpc>
              <a:buFont typeface="Arial"/>
              <a:buChar char="•"/>
            </a:pP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Instead of struggling in 2D, we imagine 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transforming (mapping)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 the data into a 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higher-dimensional space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 (like 3D or more), where it 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becomes </a:t>
            </a:r>
            <a:r>
              <a:rPr lang="en-US" b="true" sz="3467">
                <a:solidFill>
                  <a:srgbClr val="D9BF77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linearly separable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—meaning a flat plane (or hyperplane) can now split the classes cleanly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6750" y="742950"/>
            <a:ext cx="6886575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How I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 W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o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rk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</a:t>
            </a:r>
          </a:p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C6E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75865" y="20488"/>
            <a:ext cx="9612135" cy="10266512"/>
          </a:xfrm>
          <a:custGeom>
            <a:avLst/>
            <a:gdLst/>
            <a:ahLst/>
            <a:cxnLst/>
            <a:rect r="r" b="b" t="t" l="l"/>
            <a:pathLst>
              <a:path h="10266512" w="9612135">
                <a:moveTo>
                  <a:pt x="0" y="0"/>
                </a:moveTo>
                <a:lnTo>
                  <a:pt x="9612135" y="0"/>
                </a:lnTo>
                <a:lnTo>
                  <a:pt x="9612135" y="10266512"/>
                </a:lnTo>
                <a:lnTo>
                  <a:pt x="0" y="10266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7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675865" y="1112649"/>
            <a:ext cx="9612135" cy="8061702"/>
          </a:xfrm>
          <a:custGeom>
            <a:avLst/>
            <a:gdLst/>
            <a:ahLst/>
            <a:cxnLst/>
            <a:rect r="r" b="b" t="t" l="l"/>
            <a:pathLst>
              <a:path h="8061702" w="9612135">
                <a:moveTo>
                  <a:pt x="0" y="0"/>
                </a:moveTo>
                <a:lnTo>
                  <a:pt x="9612135" y="0"/>
                </a:lnTo>
                <a:lnTo>
                  <a:pt x="9612135" y="8061702"/>
                </a:lnTo>
                <a:lnTo>
                  <a:pt x="0" y="80617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668" t="0" r="-666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675865" y="1160233"/>
            <a:ext cx="9612135" cy="8014118"/>
          </a:xfrm>
          <a:custGeom>
            <a:avLst/>
            <a:gdLst/>
            <a:ahLst/>
            <a:cxnLst/>
            <a:rect r="r" b="b" t="t" l="l"/>
            <a:pathLst>
              <a:path h="8014118" w="9612135">
                <a:moveTo>
                  <a:pt x="0" y="0"/>
                </a:moveTo>
                <a:lnTo>
                  <a:pt x="9612135" y="0"/>
                </a:lnTo>
                <a:lnTo>
                  <a:pt x="9612135" y="8014118"/>
                </a:lnTo>
                <a:lnTo>
                  <a:pt x="0" y="80141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66750" y="2310575"/>
            <a:ext cx="6886575" cy="493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8542" indent="-374271" lvl="1">
              <a:lnSpc>
                <a:spcPts val="4853"/>
              </a:lnSpc>
              <a:buFont typeface="Arial"/>
              <a:buChar char="•"/>
            </a:pP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Instead of struggling in 2D, we imagine </a:t>
            </a:r>
            <a:r>
              <a:rPr lang="en-US" b="true" sz="3467">
                <a:solidFill>
                  <a:srgbClr val="D9BF77"/>
                </a:solidFill>
                <a:latin typeface="Nyutro Sans Medium"/>
                <a:ea typeface="Nyutro Sans Medium"/>
                <a:cs typeface="Nyutro Sans Medium"/>
                <a:sym typeface="Nyutro Sans Medium"/>
              </a:rPr>
              <a:t>transforming (mapping)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 the data into a </a:t>
            </a:r>
            <a:r>
              <a:rPr lang="en-US" b="true" sz="3467">
                <a:solidFill>
                  <a:srgbClr val="D9BF77"/>
                </a:solidFill>
                <a:latin typeface="Nyutro Sans Medium"/>
                <a:ea typeface="Nyutro Sans Medium"/>
                <a:cs typeface="Nyutro Sans Medium"/>
                <a:sym typeface="Nyutro Sans Medium"/>
              </a:rPr>
              <a:t>higher-dimensional space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 (like 3D or more), where it </a:t>
            </a:r>
            <a:r>
              <a:rPr lang="en-US" b="true" sz="3467">
                <a:solidFill>
                  <a:srgbClr val="D9BF77"/>
                </a:solidFill>
                <a:latin typeface="Nyutro Sans Medium"/>
                <a:ea typeface="Nyutro Sans Medium"/>
                <a:cs typeface="Nyutro Sans Medium"/>
                <a:sym typeface="Nyutro Sans Medium"/>
              </a:rPr>
              <a:t>becomes linearly separable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—meaning a flat plane (or hyperplane) can now split the classes cleanly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742950"/>
            <a:ext cx="6886575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How I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 W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o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rk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</a:t>
            </a:r>
          </a:p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C6E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19751" y="0"/>
            <a:ext cx="9368249" cy="10266512"/>
          </a:xfrm>
          <a:custGeom>
            <a:avLst/>
            <a:gdLst/>
            <a:ahLst/>
            <a:cxnLst/>
            <a:rect r="r" b="b" t="t" l="l"/>
            <a:pathLst>
              <a:path h="10266512" w="9368249">
                <a:moveTo>
                  <a:pt x="0" y="0"/>
                </a:moveTo>
                <a:lnTo>
                  <a:pt x="9368249" y="0"/>
                </a:lnTo>
                <a:lnTo>
                  <a:pt x="9368249" y="10266512"/>
                </a:lnTo>
                <a:lnTo>
                  <a:pt x="0" y="10266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36" r="0" b="-133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2505156"/>
            <a:ext cx="6886575" cy="6150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8542" indent="-374271" lvl="1">
              <a:lnSpc>
                <a:spcPts val="4853"/>
              </a:lnSpc>
              <a:buFont typeface="Arial"/>
              <a:buChar char="•"/>
            </a:pP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Instead of explici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t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ly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 mapping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 each point to 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higher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dimensions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, th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e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 kernel trick uses a kernel function to 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com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put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e 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th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e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 simil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ar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it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y 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(dot 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pr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oduct) 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b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etw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e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en two points as if they were already in that higher-dimensional space—without ever calculating the coordinates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742950"/>
            <a:ext cx="6886575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How I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 W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o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rk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</a:t>
            </a:r>
          </a:p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C6E7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919751" y="0"/>
            <a:ext cx="9368249" cy="10266512"/>
          </a:xfrm>
          <a:custGeom>
            <a:avLst/>
            <a:gdLst/>
            <a:ahLst/>
            <a:cxnLst/>
            <a:rect r="r" b="b" t="t" l="l"/>
            <a:pathLst>
              <a:path h="10266512" w="9368249">
                <a:moveTo>
                  <a:pt x="0" y="0"/>
                </a:moveTo>
                <a:lnTo>
                  <a:pt x="9368249" y="0"/>
                </a:lnTo>
                <a:lnTo>
                  <a:pt x="9368249" y="10266512"/>
                </a:lnTo>
                <a:lnTo>
                  <a:pt x="0" y="102665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336" r="0" b="-133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3114756"/>
            <a:ext cx="6886575" cy="5541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8542" indent="-374271" lvl="1">
              <a:lnSpc>
                <a:spcPts val="4853"/>
              </a:lnSpc>
              <a:buFont typeface="Arial"/>
              <a:buChar char="•"/>
            </a:pP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Algorithms like Support Vec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tor Machines (SVM) only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 need dot products to f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ind the best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decision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 boundary. By plugging in a kernel (e.g., RBF or Polyn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om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ial),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 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the SVM 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b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ehav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e</a:t>
            </a:r>
            <a:r>
              <a:rPr lang="en-US" sz="3467">
                <a:solidFill>
                  <a:srgbClr val="D9BF77"/>
                </a:solidFill>
                <a:latin typeface="Nyutro Sans"/>
                <a:ea typeface="Nyutro Sans"/>
                <a:cs typeface="Nyutro Sans"/>
                <a:sym typeface="Nyutro Sans"/>
              </a:rPr>
              <a:t>s as if it’s working in high-dimensional space, but runs efficiently in the original space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6750" y="742950"/>
            <a:ext cx="6886575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How I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 W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o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rk</a:t>
            </a:r>
            <a:r>
              <a:rPr lang="en-US" b="true" sz="9000" spc="-89" strike="noStrike" u="none">
                <a:solidFill>
                  <a:srgbClr val="D9BF77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</a:t>
            </a:r>
          </a:p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10748" y="250494"/>
            <a:ext cx="13417199" cy="9557324"/>
            <a:chOff x="0" y="0"/>
            <a:chExt cx="17889598" cy="1274309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50312"/>
              <a:ext cx="17889598" cy="109927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473"/>
                </a:lnSpc>
              </a:pP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1. </a:t>
              </a: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Text Clas</a:t>
              </a: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si</a:t>
              </a: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</a:t>
              </a: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ic</a:t>
              </a: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at</a:t>
              </a: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</a:t>
              </a: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</a:t>
              </a: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 </a:t>
              </a: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(S</a:t>
              </a: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</a:t>
              </a: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ntiment Analysis)</a:t>
              </a:r>
            </a:p>
            <a:p>
              <a:pPr algn="just" marL="0" indent="0" lvl="0">
                <a:lnSpc>
                  <a:spcPts val="5473"/>
                </a:lnSpc>
              </a:pP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In social media monitoring, companies use SVMs </a:t>
              </a: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wit</a:t>
              </a: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 kernel tricks to classify tweets or reviews as positive, negative, or neutral—even though words don’t form neat lines in data space.</a:t>
              </a:r>
            </a:p>
            <a:p>
              <a:pPr algn="l">
                <a:lnSpc>
                  <a:spcPts val="5473"/>
                </a:lnSpc>
              </a:pPr>
            </a:p>
            <a:p>
              <a:pPr algn="l">
                <a:lnSpc>
                  <a:spcPts val="5473"/>
                </a:lnSpc>
              </a:pP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2. </a:t>
              </a: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Image Recognition</a:t>
              </a:r>
            </a:p>
            <a:p>
              <a:pPr algn="just">
                <a:lnSpc>
                  <a:spcPts val="5473"/>
                </a:lnSpc>
              </a:pPr>
              <a:r>
                <a:rPr lang="en-US" sz="3909" spc="78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Facial recognition systems use kernel-based SVMs to distinguish faces from backgrounds or identify individuals, especially when lighting or angles create non-linear variations </a:t>
              </a:r>
            </a:p>
            <a:p>
              <a:pPr algn="just" marL="0" indent="0" lvl="0">
                <a:lnSpc>
                  <a:spcPts val="5473"/>
                </a:lnSpc>
              </a:pP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90500"/>
              <a:ext cx="17889598" cy="11620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694"/>
                </a:lnSpc>
              </a:pPr>
              <a:r>
                <a:rPr lang="en-US" b="true" sz="4781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Exampl</a:t>
              </a:r>
              <a:r>
                <a:rPr lang="en-US" b="true" sz="47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es</a:t>
              </a:r>
              <a:r>
                <a:rPr lang="en-US" b="true" sz="47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 (Re</a:t>
              </a:r>
              <a:r>
                <a:rPr lang="en-US" b="true" sz="47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</a:t>
              </a:r>
              <a:r>
                <a:rPr lang="en-US" b="true" sz="47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l-Worl</a:t>
              </a:r>
              <a:r>
                <a:rPr lang="en-US" b="true" sz="47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 </a:t>
              </a:r>
              <a:r>
                <a:rPr lang="en-US" b="true" sz="47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Ap</a:t>
              </a:r>
              <a:r>
                <a:rPr lang="en-US" b="true" sz="47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</a:t>
              </a:r>
              <a:r>
                <a:rPr lang="en-US" b="true" sz="47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l</a:t>
              </a:r>
              <a:r>
                <a:rPr lang="en-US" b="true" sz="47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ica</a:t>
              </a:r>
              <a:r>
                <a:rPr lang="en-US" b="true" sz="47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</a:t>
              </a:r>
              <a:r>
                <a:rPr lang="en-US" b="true" sz="47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</a:t>
              </a:r>
              <a:r>
                <a:rPr lang="en-US" b="true" sz="47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</a:t>
              </a:r>
              <a:r>
                <a:rPr lang="en-US" b="true" sz="47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n</a:t>
              </a:r>
              <a:r>
                <a:rPr lang="en-US" b="true" sz="47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s)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37763" y="782292"/>
            <a:ext cx="14012475" cy="8722416"/>
            <a:chOff x="0" y="0"/>
            <a:chExt cx="18683300" cy="1162988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725953"/>
              <a:ext cx="18683300" cy="7903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5193"/>
                </a:lnSpc>
              </a:pP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It 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expla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ins how kernel 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fun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c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ns e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nable data-driven models—like Support Vector Machines (SVM) and Kernel Partial Least Squares Regression (KPLSR) to handle nonlinear data by implicitly mapping it into a higher-dimensional space where it becomes linearly separable. The paper emphas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izes t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hat the Gaussian (RBF) kernel is the most widely used due to its strong performance in real-world applications like wastewater treatment, medical diagnosis, and industrial soft sensors. It highlights that most research focuses on classification, while regression tasks using kernels are underexplored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. 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80975"/>
              <a:ext cx="18683300" cy="3118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34"/>
                </a:lnSpc>
              </a:pPr>
              <a:r>
                <a:rPr lang="en-US" b="true" sz="4381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 Compreh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ensive O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v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rview of the A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ppl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ications of Kernel Functions and Data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-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driven M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dels in Reg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ession an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 Cl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assif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ication Tas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ks in the Context of Software Sensors</a:t>
              </a:r>
            </a:p>
          </p:txBody>
        </p:sp>
      </p:grpSp>
    </p:spTree>
  </p:cSld>
  <p:clrMapOvr>
    <a:masterClrMapping/>
  </p:clrMapOvr>
  <p:transition spd="slow">
    <p:cover dir="l"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37763" y="782292"/>
            <a:ext cx="14012475" cy="8065191"/>
            <a:chOff x="0" y="0"/>
            <a:chExt cx="18683300" cy="10753588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725953"/>
              <a:ext cx="18683300" cy="70276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5193"/>
                </a:lnSpc>
              </a:pP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The authors 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note that kernel me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thod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 are especi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ally valuable in soft sensor technology, where they replace costly hardware sensors by predicting hard-to-measure variables from easy-to-collect data. The rev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iew 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also compares different kernel types such as polynomial, sigmoid, and RBF discussing their strengths, weaknesses, and suitability for specific problems. Finally, it recommends combining adaptive (self-updating) models with diverse kernel functions to improve accuracy in dynamic industrial environments</a:t>
              </a:r>
              <a:r>
                <a:rPr lang="en-US" sz="37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180975"/>
              <a:ext cx="18683300" cy="311868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134"/>
                </a:lnSpc>
              </a:pPr>
              <a:r>
                <a:rPr lang="en-US" b="true" sz="4381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 Compreh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ensive O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v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rview of the A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ppl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ications of Kernel Functions and Data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-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driven M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o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dels in Reg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ession an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 Cl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assif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ication Tas</a:t>
              </a:r>
              <a:r>
                <a:rPr lang="en-US" b="true" sz="4381" strike="noStrike" u="none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ks in the Context of Software Sensors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37763" y="782292"/>
            <a:ext cx="14012475" cy="7533697"/>
            <a:chOff x="0" y="0"/>
            <a:chExt cx="18683300" cy="1004492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91439"/>
              <a:ext cx="18683300" cy="81534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0" indent="0" lvl="0">
                <a:lnSpc>
                  <a:spcPts val="6033"/>
                </a:lnSpc>
              </a:pPr>
              <a:r>
                <a:rPr lang="en-US" sz="43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In today’s w</a:t>
              </a:r>
              <a:r>
                <a:rPr lang="en-US" sz="43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orld of big, messy data (from medic</a:t>
              </a:r>
              <a:r>
                <a:rPr lang="en-US" sz="43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al scans to customer reviews), we need tools that are both powerful and efficient. The kernel trick lets us use robust linear</a:t>
              </a:r>
              <a:r>
                <a:rPr lang="en-US" sz="43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</a:t>
              </a:r>
              <a:r>
                <a:rPr lang="en-US" sz="4309">
                  <a:solidFill>
                    <a:srgbClr val="3C6E71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algorithms on non-linear problems without massive computational cost, making it essential for real-world AI systems—even as deep learning rises, kernel methods continue to underpin many hybrid and interpretable models.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-228600"/>
              <a:ext cx="18683300" cy="1360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814"/>
                </a:lnSpc>
              </a:pPr>
              <a:r>
                <a:rPr lang="en-US" b="true" sz="5581">
                  <a:solidFill>
                    <a:srgbClr val="3C6E71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Reflection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Understanding the Kernel Trick</dc:description>
  <dc:identifier>DAG2Y2jCYyE</dc:identifier>
  <dcterms:modified xsi:type="dcterms:W3CDTF">2011-08-01T06:04:30Z</dcterms:modified>
  <cp:revision>1</cp:revision>
  <dc:title>Presentation - Understanding the Kernel Trick</dc:title>
</cp:coreProperties>
</file>